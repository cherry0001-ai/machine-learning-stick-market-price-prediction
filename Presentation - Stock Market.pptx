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K Grotesk Semi-Bold" charset="1" panose="00000700000000000000"/>
      <p:regular r:id="rId13"/>
    </p:embeddedFont>
    <p:embeddedFont>
      <p:font typeface="Noto Serif Display ExtraCondensed Light" charset="1" panose="02020406080505020204"/>
      <p:regular r:id="rId14"/>
    </p:embeddedFont>
    <p:embeddedFont>
      <p:font typeface="HK Grotesk" charset="1" panose="00000500000000000000"/>
      <p:regular r:id="rId15"/>
    </p:embeddedFont>
    <p:embeddedFont>
      <p:font typeface="HK Grotesk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97" r="0" b="-59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274424"/>
            <a:ext cx="688657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</a:pPr>
            <a:r>
              <a:rPr lang="en-US" b="true" sz="3899" u="none">
                <a:solidFill>
                  <a:srgbClr val="E6E9E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Invest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78815" y="1981302"/>
            <a:ext cx="8256839" cy="7276998"/>
            <a:chOff x="0" y="0"/>
            <a:chExt cx="11009119" cy="970266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9032676"/>
              <a:ext cx="11009119" cy="669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28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85750"/>
              <a:ext cx="11009119" cy="7705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748"/>
                </a:lnSpc>
              </a:pPr>
              <a:r>
                <a:rPr lang="en-US" sz="14748" spc="-294">
                  <a:solidFill>
                    <a:srgbClr val="E6E9E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Stock Market price prediction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E6E9E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1661" y="591976"/>
            <a:ext cx="15718904" cy="13839150"/>
            <a:chOff x="0" y="0"/>
            <a:chExt cx="20958539" cy="18452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847233"/>
              <a:ext cx="20738368" cy="604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7"/>
                </a:lnSpc>
                <a:spcBef>
                  <a:spcPct val="0"/>
                </a:spcBef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220171" y="133350"/>
              <a:ext cx="20738368" cy="12516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697"/>
                </a:lnSpc>
              </a:pPr>
              <a:r>
                <a:rPr lang="en-US" sz="6697" spc="-133">
                  <a:solidFill>
                    <a:srgbClr val="E6E9E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SUBJECT : INTRO TO MACHINE LEARNING </a:t>
              </a:r>
            </a:p>
            <a:p>
              <a:pPr algn="l">
                <a:lnSpc>
                  <a:spcPts val="6697"/>
                </a:lnSpc>
              </a:pPr>
            </a:p>
            <a:p>
              <a:pPr algn="l">
                <a:lnSpc>
                  <a:spcPts val="6697"/>
                </a:lnSpc>
              </a:pPr>
              <a:r>
                <a:rPr lang="en-US" sz="6697" spc="-133">
                  <a:solidFill>
                    <a:srgbClr val="E6E9E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TEAM NAME :    TKM CODERS </a:t>
              </a:r>
            </a:p>
            <a:p>
              <a:pPr algn="l">
                <a:lnSpc>
                  <a:spcPts val="6697"/>
                </a:lnSpc>
              </a:pPr>
            </a:p>
            <a:p>
              <a:pPr algn="l">
                <a:lnSpc>
                  <a:spcPts val="6697"/>
                </a:lnSpc>
              </a:pPr>
            </a:p>
            <a:p>
              <a:pPr algn="l">
                <a:lnSpc>
                  <a:spcPts val="6697"/>
                </a:lnSpc>
              </a:pPr>
              <a:r>
                <a:rPr lang="en-US" sz="6697" spc="-133">
                  <a:solidFill>
                    <a:srgbClr val="E6E9E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TEAM MEMBERS : VEMULA TANUSH </a:t>
              </a:r>
            </a:p>
            <a:p>
              <a:pPr algn="l">
                <a:lnSpc>
                  <a:spcPts val="6697"/>
                </a:lnSpc>
              </a:pPr>
              <a:r>
                <a:rPr lang="en-US" sz="6697" spc="-133">
                  <a:solidFill>
                    <a:srgbClr val="E6E9E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                                          SOHITH SAI </a:t>
              </a:r>
            </a:p>
            <a:p>
              <a:pPr algn="l">
                <a:lnSpc>
                  <a:spcPts val="6697"/>
                </a:lnSpc>
              </a:pPr>
              <a:r>
                <a:rPr lang="en-US" sz="6697" spc="-133">
                  <a:solidFill>
                    <a:srgbClr val="E6E9E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                                          SAI CHARAN </a:t>
              </a:r>
            </a:p>
            <a:p>
              <a:pPr algn="l">
                <a:lnSpc>
                  <a:spcPts val="6697"/>
                </a:lnSpc>
              </a:pPr>
            </a:p>
            <a:p>
              <a:pPr algn="l">
                <a:lnSpc>
                  <a:spcPts val="6697"/>
                </a:lnSpc>
              </a:pPr>
              <a:r>
                <a:rPr lang="en-US" sz="6697" spc="-133">
                  <a:solidFill>
                    <a:srgbClr val="E6E9E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GUIDE : DR . SHRAWAN KUMAR SIR </a:t>
              </a:r>
            </a:p>
            <a:p>
              <a:pPr algn="l" marL="0" indent="0" lvl="0">
                <a:lnSpc>
                  <a:spcPts val="6697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29980" y="313946"/>
            <a:ext cx="18288000" cy="0"/>
          </a:xfrm>
          <a:prstGeom prst="line">
            <a:avLst/>
          </a:prstGeom>
          <a:ln cap="flat" w="19050">
            <a:solidFill>
              <a:srgbClr val="E6E9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148549" y="9839647"/>
            <a:ext cx="18288000" cy="0"/>
          </a:xfrm>
          <a:prstGeom prst="line">
            <a:avLst/>
          </a:prstGeom>
          <a:ln cap="flat" w="19050">
            <a:solidFill>
              <a:srgbClr val="E6E9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743350" y="3913137"/>
            <a:ext cx="6146725" cy="3598414"/>
          </a:xfrm>
          <a:custGeom>
            <a:avLst/>
            <a:gdLst/>
            <a:ahLst/>
            <a:cxnLst/>
            <a:rect r="r" b="b" t="t" l="l"/>
            <a:pathLst>
              <a:path h="3598414" w="6146725">
                <a:moveTo>
                  <a:pt x="0" y="0"/>
                </a:moveTo>
                <a:lnTo>
                  <a:pt x="6146725" y="0"/>
                </a:lnTo>
                <a:lnTo>
                  <a:pt x="6146725" y="3598414"/>
                </a:lnTo>
                <a:lnTo>
                  <a:pt x="0" y="3598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79" t="-4644" r="-11177" b="-5249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E6E9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6E9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098737"/>
            <a:ext cx="8294823" cy="4527177"/>
          </a:xfrm>
          <a:custGeom>
            <a:avLst/>
            <a:gdLst/>
            <a:ahLst/>
            <a:cxnLst/>
            <a:rect r="r" b="b" t="t" l="l"/>
            <a:pathLst>
              <a:path h="4527177" w="8294823">
                <a:moveTo>
                  <a:pt x="0" y="0"/>
                </a:moveTo>
                <a:lnTo>
                  <a:pt x="8294823" y="0"/>
                </a:lnTo>
                <a:lnTo>
                  <a:pt x="8294823" y="4527176"/>
                </a:lnTo>
                <a:lnTo>
                  <a:pt x="0" y="4527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148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6750" y="6219825"/>
            <a:ext cx="6886575" cy="2343150"/>
            <a:chOff x="0" y="0"/>
            <a:chExt cx="9182100" cy="31242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6E9E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Market Volatility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Rapid fluctuations in the stock market are driven by a myriad of factors, including economic indicators, political events, and psychological influences, creating uncertainty for investors and analysts alike.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33537" y="6219825"/>
            <a:ext cx="6886575" cy="2705100"/>
            <a:chOff x="0" y="0"/>
            <a:chExt cx="9182100" cy="3606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6E9E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Data Complexity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stock market generates large, non-linear time-series data sets that are challenging to analyze. These complexities require sophisticated algorithms to extract meaningful insights and facilitate accurate predictions.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E6E9E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The Problem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6E9E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Stock Market Challenges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37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27185"/>
            <a:ext cx="7551748" cy="541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27"/>
              </a:lnSpc>
            </a:pPr>
            <a:r>
              <a:rPr lang="en-US" sz="10527" spc="-210">
                <a:solidFill>
                  <a:srgbClr val="E6E9E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Dataset </a:t>
            </a:r>
          </a:p>
          <a:p>
            <a:pPr algn="l" marL="0" indent="0" lvl="0">
              <a:lnSpc>
                <a:spcPts val="10527"/>
              </a:lnSpc>
            </a:pPr>
            <a:r>
              <a:rPr lang="en-US" sz="10527" spc="-210">
                <a:solidFill>
                  <a:srgbClr val="E6E9E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and Machine Learning Methods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619672"/>
            <a:chOff x="0" y="0"/>
            <a:chExt cx="5346700" cy="21595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Includes open, close, high, low, and volume data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6E9E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Historical Prices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980643"/>
            <a:chOff x="0" y="0"/>
            <a:chExt cx="5346700" cy="26408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Daily trends and sentiment indicators enhance predictions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6E9E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Key Features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981200"/>
            <a:chOff x="0" y="0"/>
            <a:chExt cx="5346700" cy="26416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Diverse methods improve accuracy and prediction capabilities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6E9E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Algorithms Applied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E6E9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6E9E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637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6886575" cy="2343150"/>
            <a:chOff x="0" y="0"/>
            <a:chExt cx="9182100" cy="3124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6E9E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Input Data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91821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model utilizes </a:t>
              </a:r>
              <a:r>
                <a:rPr lang="en-US" b="true" sz="2400" strike="noStrike" u="none">
                  <a:solidFill>
                    <a:srgbClr val="E6E9E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historical prices</a:t>
              </a: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technical indicators, including open, close, high, low, and volume data, to generate comprehensive insights for stock market predictions.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2343150"/>
            <a:chOff x="0" y="0"/>
            <a:chExt cx="9182100" cy="31242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6E9E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Data Processing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Data undergoes essential steps, including </a:t>
              </a:r>
              <a:r>
                <a:rPr lang="en-US" b="true" sz="2400" strike="noStrike" u="none">
                  <a:solidFill>
                    <a:srgbClr val="E6E9E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cleaning</a:t>
              </a: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normalization, and transformation into time-series sequences, ensuring the information is ready for accurate analysis and future price predictions.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E6E9E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Prediction Model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6E9E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Input and Processing Steps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E6E9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6E9E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493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6E9E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Impact and Future Opportunities in Stock Prediction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619672"/>
            <a:chOff x="0" y="0"/>
            <a:chExt cx="5346700" cy="21595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Data-driven insights empower investors to make decisions.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6E9E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Informed Trading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618693"/>
            <a:chOff x="0" y="0"/>
            <a:chExt cx="5346700" cy="21582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Enhanced tools improve user experience and accessibility.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6E9E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Trading Platforms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619250"/>
            <a:chOff x="0" y="0"/>
            <a:chExt cx="5346700" cy="21590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Instant updates keep traders informed and agile.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6E9E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Real-Time Data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E6E9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6E9E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161586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86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15861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945"/>
            <a:ext cx="5448300" cy="2875705"/>
            <a:chOff x="0" y="0"/>
            <a:chExt cx="7264400" cy="383427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80975"/>
              <a:ext cx="72644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E6E9E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Thank You!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86474"/>
              <a:ext cx="7264400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appreciate your interest and welcome your questions about our presentation.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7639050"/>
            <a:ext cx="5448300" cy="1085850"/>
            <a:chOff x="0" y="0"/>
            <a:chExt cx="7264400" cy="1447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Phone: 9959097583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2600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E6E9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Email: rayala.charan_cs25@gla.ac.in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65200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cap="flat" w="19050">
            <a:solidFill>
              <a:srgbClr val="E6E9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cap="flat" w="19050">
            <a:solidFill>
              <a:srgbClr val="E6E9E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Stock Market</dc:description>
  <dc:identifier>DAHDzVnx4Vg</dc:identifier>
  <dcterms:modified xsi:type="dcterms:W3CDTF">2011-08-01T06:04:30Z</dcterms:modified>
  <cp:revision>1</cp:revision>
  <dc:title>Presentation - Stock Market</dc:title>
</cp:coreProperties>
</file>